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950dca0ad44ffb" /><Relationship Type="http://schemas.openxmlformats.org/officeDocument/2006/relationships/extended-properties" Target="/docProps/app.xml" Id="Rbd0d45ce72e54901" /><Relationship Type="http://schemas.openxmlformats.org/officeDocument/2006/relationships/officeDocument" Target="/ppt/presentation.xml" Id="R631005b0cae944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00204187e8467f"/>
  </p:sldMasterIdLst>
  <p:notesMasterIdLst>
    <p:notesMasterId xmlns:r="http://schemas.openxmlformats.org/officeDocument/2006/relationships" r:id="R1e52c6e29afa402f"/>
  </p:notesMasterIdLst>
  <p:sldIdLst>
    <p:sldId xmlns:r="http://schemas.openxmlformats.org/officeDocument/2006/relationships" id="256" r:id="R37c92fb4327f4cb6"/>
    <p:sldId xmlns:r="http://schemas.openxmlformats.org/officeDocument/2006/relationships" id="257" r:id="R529a0d6742d442e1"/>
    <p:sldId xmlns:r="http://schemas.openxmlformats.org/officeDocument/2006/relationships" id="258" r:id="R45beb63cbf9f4faf"/>
    <p:sldId xmlns:r="http://schemas.openxmlformats.org/officeDocument/2006/relationships" id="259" r:id="R4f49257afbeb472f"/>
    <p:sldId xmlns:r="http://schemas.openxmlformats.org/officeDocument/2006/relationships" id="260" r:id="Ra9bf017ed503444c"/>
    <p:sldId xmlns:r="http://schemas.openxmlformats.org/officeDocument/2006/relationships" id="261" r:id="Ra887784b6cbd4d79"/>
    <p:sldId xmlns:r="http://schemas.openxmlformats.org/officeDocument/2006/relationships" id="262" r:id="R25fcacfc464c46b0"/>
    <p:sldId xmlns:r="http://schemas.openxmlformats.org/officeDocument/2006/relationships" id="263" r:id="R97733eb815b840b8"/>
    <p:sldId xmlns:r="http://schemas.openxmlformats.org/officeDocument/2006/relationships" id="264" r:id="R30877b87559c4837"/>
    <p:sldId xmlns:r="http://schemas.openxmlformats.org/officeDocument/2006/relationships" id="265" r:id="Rbd3d0dad78fc4d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4e63004fe14372" /><Relationship Type="http://schemas.openxmlformats.org/officeDocument/2006/relationships/slideMaster" Target="/ppt/slideMasters/slideMaster1.xml" Id="R7600204187e8467f" /><Relationship Type="http://schemas.openxmlformats.org/officeDocument/2006/relationships/notesMaster" Target="/ppt/notesMasters/notesMaster1.xml" Id="R1e52c6e29afa402f" /><Relationship Type="http://schemas.openxmlformats.org/officeDocument/2006/relationships/presProps" Target="/ppt/presProps.xml" Id="R825da8e288cb41e9" /><Relationship Type="http://schemas.openxmlformats.org/officeDocument/2006/relationships/tableStyles" Target="/ppt/tableStyles.xml" Id="R2c75c0779e65473c" /><Relationship Type="http://schemas.openxmlformats.org/officeDocument/2006/relationships/slide" Target="/ppt/slides/slide1.xml" Id="R37c92fb4327f4cb6" /><Relationship Type="http://schemas.openxmlformats.org/officeDocument/2006/relationships/slide" Target="/ppt/slides/slide2.xml" Id="R529a0d6742d442e1" /><Relationship Type="http://schemas.openxmlformats.org/officeDocument/2006/relationships/slide" Target="/ppt/slides/slide3.xml" Id="R45beb63cbf9f4faf" /><Relationship Type="http://schemas.openxmlformats.org/officeDocument/2006/relationships/slide" Target="/ppt/slides/slide4.xml" Id="R4f49257afbeb472f" /><Relationship Type="http://schemas.openxmlformats.org/officeDocument/2006/relationships/slide" Target="/ppt/slides/slide5.xml" Id="Ra9bf017ed503444c" /><Relationship Type="http://schemas.openxmlformats.org/officeDocument/2006/relationships/slide" Target="/ppt/slides/slide6.xml" Id="Ra887784b6cbd4d79" /><Relationship Type="http://schemas.openxmlformats.org/officeDocument/2006/relationships/slide" Target="/ppt/slides/slide7.xml" Id="R25fcacfc464c46b0" /><Relationship Type="http://schemas.openxmlformats.org/officeDocument/2006/relationships/slide" Target="/ppt/slides/slide8.xml" Id="R97733eb815b840b8" /><Relationship Type="http://schemas.openxmlformats.org/officeDocument/2006/relationships/slide" Target="/ppt/slides/slide9.xml" Id="R30877b87559c4837" /><Relationship Type="http://schemas.openxmlformats.org/officeDocument/2006/relationships/slide" Target="/ppt/slides/slide10.xml" Id="Rbd3d0dad78fc4d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6abe4ae10b46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8426ba44f44ef1" /><Relationship Type="http://schemas.openxmlformats.org/officeDocument/2006/relationships/notesMaster" Target="/ppt/notesMasters/notesMaster1.xml" Id="Raf7b290cbdeb45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21869ed8d84555" /><Relationship Type="http://schemas.openxmlformats.org/officeDocument/2006/relationships/notesMaster" Target="/ppt/notesMasters/notesMaster1.xml" Id="R352b086f2e1c44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521c16222c4d5f" /><Relationship Type="http://schemas.openxmlformats.org/officeDocument/2006/relationships/notesMaster" Target="/ppt/notesMasters/notesMaster1.xml" Id="Rcd20c7261b4c4c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894a483d914f8e" /><Relationship Type="http://schemas.openxmlformats.org/officeDocument/2006/relationships/notesMaster" Target="/ppt/notesMasters/notesMaster1.xml" Id="R212f7ce1cf0748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0c0681ccb54512" /><Relationship Type="http://schemas.openxmlformats.org/officeDocument/2006/relationships/notesMaster" Target="/ppt/notesMasters/notesMaster1.xml" Id="Rf59ca4e4ee834e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c112146dee48f3" /><Relationship Type="http://schemas.openxmlformats.org/officeDocument/2006/relationships/notesMaster" Target="/ppt/notesMasters/notesMaster1.xml" Id="R30878886a10c4b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2f907c46a64762" /><Relationship Type="http://schemas.openxmlformats.org/officeDocument/2006/relationships/notesMaster" Target="/ppt/notesMasters/notesMaster1.xml" Id="R0965d8ae1ca04e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ff9615ca00476e" /><Relationship Type="http://schemas.openxmlformats.org/officeDocument/2006/relationships/notesMaster" Target="/ppt/notesMasters/notesMaster1.xml" Id="Reca79643eef745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e8f1ad3b974ac0" /><Relationship Type="http://schemas.openxmlformats.org/officeDocument/2006/relationships/notesMaster" Target="/ppt/notesMasters/notesMaster1.xml" Id="R62895f25713942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db38d3e58049fb" /><Relationship Type="http://schemas.openxmlformats.org/officeDocument/2006/relationships/notesMaster" Target="/ppt/notesMasters/notesMaster1.xml" Id="Ra0e91e2385e146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73985e4bf40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e8c720e9c54c85" /><Relationship Type="http://schemas.openxmlformats.org/officeDocument/2006/relationships/slideLayout" Target="/ppt/slideLayouts/slideLayout1.xml" Id="R3d526617efa043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526617efa043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8c9f5faed4f5b" /><Relationship Type="http://schemas.openxmlformats.org/officeDocument/2006/relationships/notesSlide" Target="/ppt/notesSlides/notesSlide1.xml" Id="R2678781e2eda46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bc5a93b0748ae" /><Relationship Type="http://schemas.openxmlformats.org/officeDocument/2006/relationships/notesSlide" Target="/ppt/notesSlides/notesSlide2.xml" Id="Raa19b415dd5f4d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8605339af458d" /><Relationship Type="http://schemas.openxmlformats.org/officeDocument/2006/relationships/notesSlide" Target="/ppt/notesSlides/notesSlide3.xml" Id="R536f45cd3c2146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bdd860b064777" /><Relationship Type="http://schemas.openxmlformats.org/officeDocument/2006/relationships/notesSlide" Target="/ppt/notesSlides/notesSlide4.xml" Id="Ra0e539073d4a42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d024ed86a4026" /><Relationship Type="http://schemas.openxmlformats.org/officeDocument/2006/relationships/notesSlide" Target="/ppt/notesSlides/notesSlide5.xml" Id="R2b5dcb3cb7644d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53c1db5974fd9" /><Relationship Type="http://schemas.openxmlformats.org/officeDocument/2006/relationships/notesSlide" Target="/ppt/notesSlides/notesSlide6.xml" Id="R4e8538b7727a4b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1aa632ef142f0" /><Relationship Type="http://schemas.openxmlformats.org/officeDocument/2006/relationships/notesSlide" Target="/ppt/notesSlides/notesSlide7.xml" Id="R95b8cab7908a4f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e8c23f6d040c5" /><Relationship Type="http://schemas.openxmlformats.org/officeDocument/2006/relationships/notesSlide" Target="/ppt/notesSlides/notesSlide8.xml" Id="R0aca8cd157f144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0dfd4d535423f" /><Relationship Type="http://schemas.openxmlformats.org/officeDocument/2006/relationships/image" Target="/ppt/media/image.png" Id="R9005800fc42e401c" /><Relationship Type="http://schemas.openxmlformats.org/officeDocument/2006/relationships/notesSlide" Target="/ppt/notesSlides/notesSlide9.xml" Id="Red4920187c3742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0cbd293684165" /><Relationship Type="http://schemas.openxmlformats.org/officeDocument/2006/relationships/notesSlide" Target="/ppt/notesSlides/notesSlide10.xml" Id="R1df40fc726a34f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53AE90F3-7CCB-4D0C-B159-E1F7D327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rPr>
              <a:t>PROYECTO INTEGRADOR · ENTREGA FINAL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1C86D89-DEC8-4EBC-A4C5-E8D13D3F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95250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StockFácil</a:t>
            </a:r>
          </a:p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que sí coincide</a:t>
            </a:r>
          </a:p>
        </p:txBody>
      </p:sp>
      <p:sp>
        <p:nvSpPr>
          <p:cNvPr id="3" name="accent-42-468">
            <a:extLst xmlns:a="http://schemas.openxmlformats.org/drawingml/2006/main">
              <a:ext uri="{FF2B5EF4-FFF2-40B4-BE49-F238E27FC236}">
                <a16:creationId xmlns:a16="http://schemas.microsoft.com/office/drawing/2014/main" id="{14038B50-A931-4804-9A77-56759413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6D62F04-8F13-42B6-A509-E5126F60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Inventario, ventas y alertas en tiempo real para comercios pequeños</a:t>
            </a:r>
          </a:p>
        </p:txBody>
      </p:sp>
      <p:sp>
        <p:nvSpPr>
          <p:cNvPr id="5" name="cover-team">
            <a:extLst xmlns:a="http://schemas.openxmlformats.org/drawingml/2006/main">
              <a:ext uri="{FF2B5EF4-FFF2-40B4-BE49-F238E27FC236}">
                <a16:creationId xmlns:a16="http://schemas.microsoft.com/office/drawing/2014/main" id="{238B757F-56E9-45F3-B2D4-6332FADC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Equipo 3 · Desarrollo de Tecnologías en el Servidor</a:t>
            </a:r>
          </a:p>
        </p:txBody>
      </p:sp>
    </p:spTree>
    <p:extLst>
      <p:ext uri="{BB962C8B-B14F-4D97-AF65-F5344CB8AC3E}">
        <p14:creationId xmlns:p14="http://schemas.microsoft.com/office/powerpoint/2010/main" val="2064625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717169B-BB5C-4A6A-A30D-168E37CC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 problema no es registrar: es confiar en el inventario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EB68A1C4-C12E-44D8-AB28-D1489EE0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problem-context">
            <a:extLst xmlns:a="http://schemas.openxmlformats.org/drawingml/2006/main">
              <a:ext uri="{FF2B5EF4-FFF2-40B4-BE49-F238E27FC236}">
                <a16:creationId xmlns:a16="http://schemas.microsoft.com/office/drawing/2014/main" id="{EEDEA688-1032-42B5-A00E-5B3F2EDC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Cuando ventas, entradas y salidas viven en registros separados, el stock deja de reflejar la operación real.</a:t>
            </a:r>
          </a:p>
        </p:txBody>
      </p:sp>
      <p:sp>
        <p:nvSpPr>
          <p:cNvPr id="4" name="problem-card">
            <a:extLst xmlns:a="http://schemas.openxmlformats.org/drawingml/2006/main">
              <a:ext uri="{FF2B5EF4-FFF2-40B4-BE49-F238E27FC236}">
                <a16:creationId xmlns:a16="http://schemas.microsoft.com/office/drawing/2014/main" id="{4DC78D1E-4EFE-450C-B9AB-D73931A5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547687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lution-card">
            <a:extLst xmlns:a="http://schemas.openxmlformats.org/drawingml/2006/main">
              <a:ext uri="{FF2B5EF4-FFF2-40B4-BE49-F238E27FC236}">
                <a16:creationId xmlns:a16="http://schemas.microsoft.com/office/drawing/2014/main" id="{605597DD-42B2-46BA-9BC7-D7FBAF8F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24150"/>
            <a:ext cx="547687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4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5DE3F06D-4020-42E2-9EAD-BE119735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Sin StockFácil</a:t>
            </a:r>
          </a:p>
        </p:txBody>
      </p:sp>
      <p:sp>
        <p:nvSpPr>
          <p:cNvPr id="7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9CA893F0-1C05-43A0-848B-5A89D3E9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28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rPr>
              <a:t>Con StockFácil</a:t>
            </a:r>
          </a:p>
        </p:txBody>
      </p:sp>
      <p:sp>
        <p:nvSpPr>
          <p:cNvPr id="8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4C07B7E6-6809-41A5-AAE3-E39995B5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Datos dispersos, ajustes manuales y poca visibilidad para decidir compras.</a:t>
            </a:r>
          </a:p>
        </p:txBody>
      </p:sp>
      <p:sp>
        <p:nvSpPr>
          <p:cNvPr id="9" name="solution-copy">
            <a:extLst xmlns:a="http://schemas.openxmlformats.org/drawingml/2006/main">
              <a:ext uri="{FF2B5EF4-FFF2-40B4-BE49-F238E27FC236}">
                <a16:creationId xmlns:a16="http://schemas.microsoft.com/office/drawing/2014/main" id="{F0D2007A-13EC-4BDE-864B-230579D8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814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Una sola operación actualiza existencias, historial, reportes y alertas.</a:t>
            </a:r>
          </a:p>
        </p:txBody>
      </p:sp>
      <p:sp>
        <p:nvSpPr>
          <p:cNvPr id="10" name="problem-details-0">
            <a:extLst xmlns:a="http://schemas.openxmlformats.org/drawingml/2006/main">
              <a:ext uri="{FF2B5EF4-FFF2-40B4-BE49-F238E27FC236}">
                <a16:creationId xmlns:a16="http://schemas.microsoft.com/office/drawing/2014/main" id="{33F5A4F8-064B-414B-B180-ED4AE42B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 Diferencias de stock</a:t>
            </a:r>
          </a:p>
        </p:txBody>
      </p:sp>
      <p:sp>
        <p:nvSpPr>
          <p:cNvPr id="11" name="problem-details-1">
            <a:extLst xmlns:a="http://schemas.openxmlformats.org/drawingml/2006/main">
              <a:ext uri="{FF2B5EF4-FFF2-40B4-BE49-F238E27FC236}">
                <a16:creationId xmlns:a16="http://schemas.microsoft.com/office/drawing/2014/main" id="{B4A26628-88FA-417A-BA95-ED37E9DB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 Ventas sin trazabilidad</a:t>
            </a:r>
          </a:p>
        </p:txBody>
      </p:sp>
      <p:sp>
        <p:nvSpPr>
          <p:cNvPr id="12" name="problem-details-2">
            <a:extLst xmlns:a="http://schemas.openxmlformats.org/drawingml/2006/main">
              <a:ext uri="{FF2B5EF4-FFF2-40B4-BE49-F238E27FC236}">
                <a16:creationId xmlns:a16="http://schemas.microsoft.com/office/drawing/2014/main" id="{ACE5FAF4-FA0C-464A-BC4E-7E666632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 Reacción tardía a faltantes</a:t>
            </a:r>
          </a:p>
        </p:txBody>
      </p:sp>
      <p:sp>
        <p:nvSpPr>
          <p:cNvPr id="13" name="solution-details-0">
            <a:extLst xmlns:a="http://schemas.openxmlformats.org/drawingml/2006/main">
              <a:ext uri="{FF2B5EF4-FFF2-40B4-BE49-F238E27FC236}">
                <a16:creationId xmlns:a16="http://schemas.microsoft.com/office/drawing/2014/main" id="{4B3C5D08-1AA1-4054-8EB3-80FEBAAB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762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 Transacciones consistentes</a:t>
            </a:r>
          </a:p>
        </p:txBody>
      </p:sp>
      <p:sp>
        <p:nvSpPr>
          <p:cNvPr id="14" name="solution-details-1">
            <a:extLst xmlns:a="http://schemas.openxmlformats.org/drawingml/2006/main">
              <a:ext uri="{FF2B5EF4-FFF2-40B4-BE49-F238E27FC236}">
                <a16:creationId xmlns:a16="http://schemas.microsoft.com/office/drawing/2014/main" id="{99E7D451-43A0-4750-81AB-F94D5AFB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162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 Roles y permisos</a:t>
            </a:r>
          </a:p>
        </p:txBody>
      </p:sp>
      <p:sp>
        <p:nvSpPr>
          <p:cNvPr id="15" name="solution-details-2">
            <a:extLst xmlns:a="http://schemas.openxmlformats.org/drawingml/2006/main">
              <a:ext uri="{FF2B5EF4-FFF2-40B4-BE49-F238E27FC236}">
                <a16:creationId xmlns:a16="http://schemas.microsoft.com/office/drawing/2014/main" id="{86BB6643-B196-4168-9DD3-58F7C108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5626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 Actualización en tiempo real</a:t>
            </a:r>
          </a:p>
        </p:txBody>
      </p:sp>
    </p:spTree>
    <p:extLst>
      <p:ext uri="{BB962C8B-B14F-4D97-AF65-F5344CB8AC3E}">
        <p14:creationId xmlns:p14="http://schemas.microsoft.com/office/powerpoint/2010/main" val="613007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B4250756-9B89-44EB-B308-B95724F1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 sistema funciona de extremo a extremo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B7DEE93D-F887-4012-9302-5E9E97D4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capability-0">
            <a:extLst xmlns:a="http://schemas.openxmlformats.org/drawingml/2006/main">
              <a:ext uri="{FF2B5EF4-FFF2-40B4-BE49-F238E27FC236}">
                <a16:creationId xmlns:a16="http://schemas.microsoft.com/office/drawing/2014/main" id="{99B8F1D8-B500-4582-B77C-32193D11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562350" cy="37147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pability-number-0">
            <a:extLst xmlns:a="http://schemas.openxmlformats.org/drawingml/2006/main">
              <a:ext uri="{FF2B5EF4-FFF2-40B4-BE49-F238E27FC236}">
                <a16:creationId xmlns:a16="http://schemas.microsoft.com/office/drawing/2014/main" id="{02C151EA-FFC8-4B7B-B799-7696B471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capability-heading-0">
            <a:extLst xmlns:a="http://schemas.openxmlformats.org/drawingml/2006/main">
              <a:ext uri="{FF2B5EF4-FFF2-40B4-BE49-F238E27FC236}">
                <a16:creationId xmlns:a16="http://schemas.microsoft.com/office/drawing/2014/main" id="{C5F5FB5F-BE18-4993-9D43-9731DC03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Catálogos</a:t>
            </a:r>
          </a:p>
        </p:txBody>
      </p:sp>
      <p:sp>
        <p:nvSpPr>
          <p:cNvPr id="6" name="capability-body-0">
            <a:extLst xmlns:a="http://schemas.openxmlformats.org/drawingml/2006/main">
              <a:ext uri="{FF2B5EF4-FFF2-40B4-BE49-F238E27FC236}">
                <a16:creationId xmlns:a16="http://schemas.microsoft.com/office/drawing/2014/main" id="{761868BD-FC83-4D7B-864B-1C55600C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2914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Productos, categorías y proveedores con validaciones e identificadores únicos.</a:t>
            </a:r>
          </a:p>
        </p:txBody>
      </p:sp>
      <p:sp>
        <p:nvSpPr>
          <p:cNvPr id="7" name="capability-1">
            <a:extLst xmlns:a="http://schemas.openxmlformats.org/drawingml/2006/main">
              <a:ext uri="{FF2B5EF4-FFF2-40B4-BE49-F238E27FC236}">
                <a16:creationId xmlns:a16="http://schemas.microsoft.com/office/drawing/2014/main" id="{1C8D539A-C92A-471A-BD50-DA9036EB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28750"/>
            <a:ext cx="3562350" cy="37147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E4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pability-number-1">
            <a:extLst xmlns:a="http://schemas.openxmlformats.org/drawingml/2006/main">
              <a:ext uri="{FF2B5EF4-FFF2-40B4-BE49-F238E27FC236}">
                <a16:creationId xmlns:a16="http://schemas.microsoft.com/office/drawing/2014/main" id="{483FECD5-DF95-42C3-967E-A8DBB0F0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145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capability-heading-1">
            <a:extLst xmlns:a="http://schemas.openxmlformats.org/drawingml/2006/main">
              <a:ext uri="{FF2B5EF4-FFF2-40B4-BE49-F238E27FC236}">
                <a16:creationId xmlns:a16="http://schemas.microsoft.com/office/drawing/2014/main" id="{DA027855-EECF-4E3E-A6E4-05915847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050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Operación</a:t>
            </a:r>
          </a:p>
        </p:txBody>
      </p:sp>
      <p:sp>
        <p:nvSpPr>
          <p:cNvPr id="10" name="capability-body-1">
            <a:extLst xmlns:a="http://schemas.openxmlformats.org/drawingml/2006/main">
              <a:ext uri="{FF2B5EF4-FFF2-40B4-BE49-F238E27FC236}">
                <a16:creationId xmlns:a16="http://schemas.microsoft.com/office/drawing/2014/main" id="{955DC874-41F2-48BF-92AA-474D7FA1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09900"/>
            <a:ext cx="2914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Entradas, salidas y ventas descuentan o incrementan stock con historial.</a:t>
            </a:r>
          </a:p>
        </p:txBody>
      </p:sp>
      <p:sp>
        <p:nvSpPr>
          <p:cNvPr id="11" name="capability-2">
            <a:extLst xmlns:a="http://schemas.openxmlformats.org/drawingml/2006/main">
              <a:ext uri="{FF2B5EF4-FFF2-40B4-BE49-F238E27FC236}">
                <a16:creationId xmlns:a16="http://schemas.microsoft.com/office/drawing/2014/main" id="{63ACA078-4831-4581-9715-C02CD091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3562350" cy="37147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pability-number-2">
            <a:extLst xmlns:a="http://schemas.openxmlformats.org/drawingml/2006/main">
              <a:ext uri="{FF2B5EF4-FFF2-40B4-BE49-F238E27FC236}">
                <a16:creationId xmlns:a16="http://schemas.microsoft.com/office/drawing/2014/main" id="{09F65EE9-66DD-4230-A707-80DF92A6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capability-heading-2">
            <a:extLst xmlns:a="http://schemas.openxmlformats.org/drawingml/2006/main">
              <a:ext uri="{FF2B5EF4-FFF2-40B4-BE49-F238E27FC236}">
                <a16:creationId xmlns:a16="http://schemas.microsoft.com/office/drawing/2014/main" id="{DD6B4D60-D243-41DA-9679-B91693EB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050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</p:txBody>
      </p:sp>
      <p:sp>
        <p:nvSpPr>
          <p:cNvPr id="14" name="capability-body-2">
            <a:extLst xmlns:a="http://schemas.openxmlformats.org/drawingml/2006/main">
              <a:ext uri="{FF2B5EF4-FFF2-40B4-BE49-F238E27FC236}">
                <a16:creationId xmlns:a16="http://schemas.microsoft.com/office/drawing/2014/main" id="{DC926095-5F9C-464D-A26C-F4078F86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914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Reportes, alertas, usuarios y permisos convierten movimientos en decisiones.</a:t>
            </a:r>
          </a:p>
        </p:txBody>
      </p:sp>
      <p:sp>
        <p:nvSpPr>
          <p:cNvPr id="15" name="capability-footer">
            <a:extLst xmlns:a="http://schemas.openxmlformats.org/drawingml/2006/main">
              <a:ext uri="{FF2B5EF4-FFF2-40B4-BE49-F238E27FC236}">
                <a16:creationId xmlns:a16="http://schemas.microsoft.com/office/drawing/2014/main" id="{B520A8E6-E6DF-45C9-AF9C-F85F4EC3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Una interfaz web y una API comparten las mismas reglas del negocio.</a:t>
            </a:r>
          </a:p>
        </p:txBody>
      </p:sp>
    </p:spTree>
    <p:extLst>
      <p:ext uri="{BB962C8B-B14F-4D97-AF65-F5344CB8AC3E}">
        <p14:creationId xmlns:p14="http://schemas.microsoft.com/office/powerpoint/2010/main" val="8041289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5A34B55-3907-43C6-AD49-F56FF9FE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Una arquitectura compacta mantiene la verdad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20958FD9-9BAB-4FAF-8AA7-E89A9CC3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22" name="architecture-connector-0"/>
          <p:cNvCxnSpPr/>
          <p:nvPr/>
        </p:nvCxnSpPr>
        <p:spPr>
          <a:xfrm xmlns:a="http://schemas.openxmlformats.org/drawingml/2006/main">
            <a:off x="2209800" y="314325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76B4A"/>
            </a:solidFill>
            <a:prstDash val="solid"/>
          </a:ln>
        </p:spPr>
      </p:cxnSp>
      <p:cxnSp>
        <p:nvCxnSpPr>
          <p:cNvPr id="23" name="architecture-connector-1"/>
          <p:cNvCxnSpPr/>
          <p:nvPr/>
        </p:nvCxnSpPr>
        <p:spPr>
          <a:xfrm xmlns:a="http://schemas.openxmlformats.org/drawingml/2006/main">
            <a:off x="6096000" y="31432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76B4A"/>
            </a:solidFill>
            <a:prstDash val="solid"/>
          </a:ln>
        </p:spPr>
      </p:cxnSp>
      <p:cxnSp>
        <p:nvCxnSpPr>
          <p:cNvPr id="24" name="architecture-connector-2"/>
          <p:cNvCxnSpPr/>
          <p:nvPr/>
        </p:nvCxnSpPr>
        <p:spPr>
          <a:xfrm xmlns:a="http://schemas.openxmlformats.org/drawingml/2006/main">
            <a:off x="9144000" y="3143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76B4A"/>
            </a:solidFill>
            <a:prstDash val="solid"/>
          </a:ln>
        </p:spPr>
      </p:cxnSp>
      <p:cxnSp>
        <p:nvCxnSpPr>
          <p:cNvPr id="25" name="architecture-service-connector"/>
          <p:cNvCxnSpPr/>
          <p:nvPr/>
        </p:nvCxnSpPr>
        <p:spPr>
          <a:xfrm xmlns:a="http://schemas.openxmlformats.org/drawingml/2006/main">
            <a:off x="5657850" y="400050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architecture-node-0">
            <a:extLst xmlns:a="http://schemas.openxmlformats.org/drawingml/2006/main">
              <a:ext uri="{FF2B5EF4-FFF2-40B4-BE49-F238E27FC236}">
                <a16:creationId xmlns:a16="http://schemas.microsoft.com/office/drawing/2014/main" id="{A2AF1446-3D72-408B-A8A7-9A1B02B1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8097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itecture-heading-0">
            <a:extLst xmlns:a="http://schemas.openxmlformats.org/drawingml/2006/main">
              <a:ext uri="{FF2B5EF4-FFF2-40B4-BE49-F238E27FC236}">
                <a16:creationId xmlns:a16="http://schemas.microsoft.com/office/drawing/2014/main" id="{5984F5FC-58FD-496C-A3A5-073ACBB1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5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Cliente web</a:t>
            </a:r>
          </a:p>
        </p:txBody>
      </p:sp>
      <p:sp>
        <p:nvSpPr>
          <p:cNvPr id="9" name="architecture-body-0">
            <a:extLst xmlns:a="http://schemas.openxmlformats.org/drawingml/2006/main">
              <a:ext uri="{FF2B5EF4-FFF2-40B4-BE49-F238E27FC236}">
                <a16:creationId xmlns:a16="http://schemas.microsoft.com/office/drawing/2014/main" id="{5A4F33F3-C9DB-4837-BDE3-71963F01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5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HTML + CSS + JS</a:t>
            </a:r>
          </a:p>
          <a:p xmlns:a="http://schemas.openxmlformats.org/drawingml/2006/main">
            <a:pPr algn="l">
              <a:def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REST + JWT</a:t>
            </a:r>
          </a:p>
          <a:p xmlns:a="http://schemas.openxmlformats.org/drawingml/2006/main">
            <a:pPr algn="l">
              <a:def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Socket.IO</a:t>
            </a:r>
          </a:p>
        </p:txBody>
      </p:sp>
      <p:sp>
        <p:nvSpPr>
          <p:cNvPr id="10" name="architecture-node-1">
            <a:extLst xmlns:a="http://schemas.openxmlformats.org/drawingml/2006/main">
              <a:ext uri="{FF2B5EF4-FFF2-40B4-BE49-F238E27FC236}">
                <a16:creationId xmlns:a16="http://schemas.microsoft.com/office/drawing/2014/main" id="{ADFAE09A-3465-4D96-B851-E0C0C1B9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24765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4F2EA"/>
          </a:solidFill>
          <a:ln xmlns:a="http://schemas.openxmlformats.org/drawingml/2006/main" w="9525">
            <a:solidFill>
              <a:srgbClr val="176B4A"/>
            </a:solidFill>
            <a:prstDash val="solid"/>
          </a:ln>
        </p:spPr>
      </p:sp>
      <p:sp>
        <p:nvSpPr>
          <p:cNvPr id="11" name="architecture-heading-1">
            <a:extLst xmlns:a="http://schemas.openxmlformats.org/drawingml/2006/main">
              <a:ext uri="{FF2B5EF4-FFF2-40B4-BE49-F238E27FC236}">
                <a16:creationId xmlns:a16="http://schemas.microsoft.com/office/drawing/2014/main" id="{0C6E7D40-CEEF-4B1F-9BC4-B8168E8B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241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9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rPr>
              <a:t>Express + TypeScript</a:t>
            </a:r>
          </a:p>
        </p:txBody>
      </p:sp>
      <p:sp>
        <p:nvSpPr>
          <p:cNvPr id="12" name="architecture-body-1">
            <a:extLst xmlns:a="http://schemas.openxmlformats.org/drawingml/2006/main">
              <a:ext uri="{FF2B5EF4-FFF2-40B4-BE49-F238E27FC236}">
                <a16:creationId xmlns:a16="http://schemas.microsoft.com/office/drawing/2014/main" id="{EA9A7702-061B-4D75-A060-70047056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Rutas y middleware</a:t>
            </a:r>
          </a:p>
          <a:p xmlns:a="http://schemas.openxmlformats.org/drawingml/2006/main">
            <a:pPr algn="l">
              <a:def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Reglas de negocio</a:t>
            </a:r>
          </a:p>
          <a:p xmlns:a="http://schemas.openxmlformats.org/drawingml/2006/main">
            <a:pPr algn="l">
              <a:def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Mongoose</a:t>
            </a:r>
          </a:p>
        </p:txBody>
      </p:sp>
      <p:sp>
        <p:nvSpPr>
          <p:cNvPr id="13" name="architecture-node-2">
            <a:extLst xmlns:a="http://schemas.openxmlformats.org/drawingml/2006/main">
              <a:ext uri="{FF2B5EF4-FFF2-40B4-BE49-F238E27FC236}">
                <a16:creationId xmlns:a16="http://schemas.microsoft.com/office/drawing/2014/main" id="{4269AB5C-E89A-418F-9359-67189129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66950"/>
            <a:ext cx="2095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rchitecture-heading-2">
            <a:extLst xmlns:a="http://schemas.openxmlformats.org/drawingml/2006/main">
              <a:ext uri="{FF2B5EF4-FFF2-40B4-BE49-F238E27FC236}">
                <a16:creationId xmlns:a16="http://schemas.microsoft.com/office/drawing/2014/main" id="{DFB729F4-FB48-4779-AD0D-DDEFAF67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146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MongoDB</a:t>
            </a:r>
          </a:p>
        </p:txBody>
      </p:sp>
      <p:sp>
        <p:nvSpPr>
          <p:cNvPr id="15" name="architecture-body-2">
            <a:extLst xmlns:a="http://schemas.openxmlformats.org/drawingml/2006/main">
              <a:ext uri="{FF2B5EF4-FFF2-40B4-BE49-F238E27FC236}">
                <a16:creationId xmlns:a16="http://schemas.microsoft.com/office/drawing/2014/main" id="{79C2CCC3-0C29-4128-B065-9E37961C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Productos</a:t>
            </a:r>
          </a:p>
          <a:p xmlns:a="http://schemas.openxmlformats.org/drawingml/2006/main">
            <a:pPr algn="l">
              <a:def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Movimientos</a:t>
            </a:r>
          </a:p>
          <a:p xmlns:a="http://schemas.openxmlformats.org/drawingml/2006/main">
            <a:pPr algn="l">
              <a:def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Ventas y usuarios</a:t>
            </a:r>
          </a:p>
        </p:txBody>
      </p:sp>
      <p:sp>
        <p:nvSpPr>
          <p:cNvPr id="16" name="architecture-node-3">
            <a:extLst xmlns:a="http://schemas.openxmlformats.org/drawingml/2006/main">
              <a:ext uri="{FF2B5EF4-FFF2-40B4-BE49-F238E27FC236}">
                <a16:creationId xmlns:a16="http://schemas.microsoft.com/office/drawing/2014/main" id="{921B8295-FF4E-447F-949A-89B85599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66950"/>
            <a:ext cx="22669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itecture-heading-3">
            <a:extLst xmlns:a="http://schemas.openxmlformats.org/drawingml/2006/main">
              <a:ext uri="{FF2B5EF4-FFF2-40B4-BE49-F238E27FC236}">
                <a16:creationId xmlns:a16="http://schemas.microsoft.com/office/drawing/2014/main" id="{ECBD86DC-B8D7-4B5A-AB93-B2C8ECED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146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Servicios</a:t>
            </a:r>
          </a:p>
        </p:txBody>
      </p:sp>
      <p:sp>
        <p:nvSpPr>
          <p:cNvPr id="18" name="architecture-body-3">
            <a:extLst xmlns:a="http://schemas.openxmlformats.org/drawingml/2006/main">
              <a:ext uri="{FF2B5EF4-FFF2-40B4-BE49-F238E27FC236}">
                <a16:creationId xmlns:a16="http://schemas.microsoft.com/office/drawing/2014/main" id="{B265359C-9474-4919-B124-C28C9BCA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05150"/>
            <a:ext cx="188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SMTP</a:t>
            </a:r>
          </a:p>
          <a:p xmlns:a="http://schemas.openxmlformats.org/drawingml/2006/main">
            <a:pPr algn="l">
              <a:def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Socket.IO</a:t>
            </a:r>
          </a:p>
          <a:p xmlns:a="http://schemas.openxmlformats.org/drawingml/2006/main">
            <a:pPr algn="l">
              <a:def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Health check</a:t>
            </a:r>
          </a:p>
        </p:txBody>
      </p:sp>
      <p:sp>
        <p:nvSpPr>
          <p:cNvPr id="19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366D3481-2573-4C8E-B79F-28C81098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9585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Las ventas y movimientos se ejecutan en transacciones: si una escritura falla, MongoDB revierte el conjunto.</a:t>
            </a:r>
          </a:p>
        </p:txBody>
      </p:sp>
    </p:spTree>
    <p:extLst>
      <p:ext uri="{BB962C8B-B14F-4D97-AF65-F5344CB8AC3E}">
        <p14:creationId xmlns:p14="http://schemas.microsoft.com/office/powerpoint/2010/main" val="590366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6B84BF57-452C-40E5-9B06-B5DC54CF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Cada acción pasa por identidad, permiso y consistencia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4D1B3EEF-B255-4D87-AE6E-3C3CEF27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18" name="auth-flow-line"/>
          <p:cNvCxnSpPr/>
          <p:nvPr/>
        </p:nvCxnSpPr>
        <p:spPr>
          <a:xfrm xmlns:a="http://schemas.openxmlformats.org/drawingml/2006/main">
            <a:off x="800100" y="325755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auth-dot-0">
            <a:extLst xmlns:a="http://schemas.openxmlformats.org/drawingml/2006/main">
              <a:ext uri="{FF2B5EF4-FFF2-40B4-BE49-F238E27FC236}">
                <a16:creationId xmlns:a16="http://schemas.microsoft.com/office/drawing/2014/main" id="{AA9E9185-0D62-473F-8D32-D815975D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9525">
            <a:solidFill>
              <a:srgbClr val="176B4A"/>
            </a:solidFill>
            <a:prstDash val="solid"/>
          </a:ln>
        </p:spPr>
      </p:sp>
      <p:sp>
        <p:nvSpPr>
          <p:cNvPr id="5" name="auth-label-0">
            <a:extLst xmlns:a="http://schemas.openxmlformats.org/drawingml/2006/main">
              <a:ext uri="{FF2B5EF4-FFF2-40B4-BE49-F238E27FC236}">
                <a16:creationId xmlns:a16="http://schemas.microsoft.com/office/drawing/2014/main" id="{6DCA5159-9F2A-45CF-93B2-04F992B0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auth-heading-0">
            <a:extLst xmlns:a="http://schemas.openxmlformats.org/drawingml/2006/main">
              <a:ext uri="{FF2B5EF4-FFF2-40B4-BE49-F238E27FC236}">
                <a16:creationId xmlns:a16="http://schemas.microsoft.com/office/drawing/2014/main" id="{9E7FF430-85AC-4307-A68E-8E2564AC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Autenticar</a:t>
            </a:r>
          </a:p>
        </p:txBody>
      </p:sp>
      <p:sp>
        <p:nvSpPr>
          <p:cNvPr id="7" name="auth-body-0">
            <a:extLst xmlns:a="http://schemas.openxmlformats.org/drawingml/2006/main">
              <a:ext uri="{FF2B5EF4-FFF2-40B4-BE49-F238E27FC236}">
                <a16:creationId xmlns:a16="http://schemas.microsoft.com/office/drawing/2014/main" id="{C1582952-8F8A-4CC6-AA2B-89DF742B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JWT de 8 horas y usuario activo.</a:t>
            </a:r>
          </a:p>
        </p:txBody>
      </p:sp>
      <p:sp>
        <p:nvSpPr>
          <p:cNvPr id="8" name="auth-dot-1">
            <a:extLst xmlns:a="http://schemas.openxmlformats.org/drawingml/2006/main">
              <a:ext uri="{FF2B5EF4-FFF2-40B4-BE49-F238E27FC236}">
                <a16:creationId xmlns:a16="http://schemas.microsoft.com/office/drawing/2014/main" id="{D64D93DC-1C9E-406F-A6A7-92E37858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9525">
            <a:solidFill>
              <a:srgbClr val="176B4A"/>
            </a:solidFill>
            <a:prstDash val="solid"/>
          </a:ln>
        </p:spPr>
      </p:sp>
      <p:sp>
        <p:nvSpPr>
          <p:cNvPr id="9" name="auth-label-1">
            <a:extLst xmlns:a="http://schemas.openxmlformats.org/drawingml/2006/main">
              <a:ext uri="{FF2B5EF4-FFF2-40B4-BE49-F238E27FC236}">
                <a16:creationId xmlns:a16="http://schemas.microsoft.com/office/drawing/2014/main" id="{73CCA557-EC19-4C79-AAAB-922AE0F1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479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auth-heading-1">
            <a:extLst xmlns:a="http://schemas.openxmlformats.org/drawingml/2006/main">
              <a:ext uri="{FF2B5EF4-FFF2-40B4-BE49-F238E27FC236}">
                <a16:creationId xmlns:a16="http://schemas.microsoft.com/office/drawing/2014/main" id="{9CA30D6A-2931-4777-971A-FB6DAE70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957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Autorizar</a:t>
            </a:r>
          </a:p>
        </p:txBody>
      </p:sp>
      <p:sp>
        <p:nvSpPr>
          <p:cNvPr id="11" name="auth-body-1">
            <a:extLst xmlns:a="http://schemas.openxmlformats.org/drawingml/2006/main">
              <a:ext uri="{FF2B5EF4-FFF2-40B4-BE49-F238E27FC236}">
                <a16:creationId xmlns:a16="http://schemas.microsoft.com/office/drawing/2014/main" id="{AE18C4EB-1BDE-4376-B30D-472B4809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0530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Administrador u operativo según la ruta.</a:t>
            </a:r>
          </a:p>
        </p:txBody>
      </p:sp>
      <p:sp>
        <p:nvSpPr>
          <p:cNvPr id="12" name="auth-dot-2">
            <a:extLst xmlns:a="http://schemas.openxmlformats.org/drawingml/2006/main">
              <a:ext uri="{FF2B5EF4-FFF2-40B4-BE49-F238E27FC236}">
                <a16:creationId xmlns:a16="http://schemas.microsoft.com/office/drawing/2014/main" id="{8D14C344-2BED-4730-847B-65E23AE7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9525">
            <a:solidFill>
              <a:srgbClr val="176B4A"/>
            </a:solidFill>
            <a:prstDash val="solid"/>
          </a:ln>
        </p:spPr>
      </p:sp>
      <p:sp>
        <p:nvSpPr>
          <p:cNvPr id="13" name="auth-label-2">
            <a:extLst xmlns:a="http://schemas.openxmlformats.org/drawingml/2006/main">
              <a:ext uri="{FF2B5EF4-FFF2-40B4-BE49-F238E27FC236}">
                <a16:creationId xmlns:a16="http://schemas.microsoft.com/office/drawing/2014/main" id="{D739126C-E7B9-4CA0-94B0-8B9684A9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479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auth-heading-2">
            <a:extLst xmlns:a="http://schemas.openxmlformats.org/drawingml/2006/main">
              <a:ext uri="{FF2B5EF4-FFF2-40B4-BE49-F238E27FC236}">
                <a16:creationId xmlns:a16="http://schemas.microsoft.com/office/drawing/2014/main" id="{B222FD3E-8C04-4329-83E2-231F669C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957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Confirmar</a:t>
            </a:r>
          </a:p>
        </p:txBody>
      </p:sp>
      <p:sp>
        <p:nvSpPr>
          <p:cNvPr id="15" name="auth-body-2">
            <a:extLst xmlns:a="http://schemas.openxmlformats.org/drawingml/2006/main">
              <a:ext uri="{FF2B5EF4-FFF2-40B4-BE49-F238E27FC236}">
                <a16:creationId xmlns:a16="http://schemas.microsoft.com/office/drawing/2014/main" id="{E07C3C24-7292-44C6-9651-8B67B9C2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Validación y transacción antes de responder.</a:t>
            </a:r>
          </a:p>
        </p:txBody>
      </p:sp>
    </p:spTree>
    <p:extLst>
      <p:ext uri="{BB962C8B-B14F-4D97-AF65-F5344CB8AC3E}">
        <p14:creationId xmlns:p14="http://schemas.microsoft.com/office/powerpoint/2010/main" val="4043594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9D65398D-69CA-40AD-AEB3-784C4DB0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operación reacciona al instante y también informa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64BE649E-4EF5-47CC-91F3-458839D1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advanced-context">
            <a:extLst xmlns:a="http://schemas.openxmlformats.org/drawingml/2006/main">
              <a:ext uri="{FF2B5EF4-FFF2-40B4-BE49-F238E27FC236}">
                <a16:creationId xmlns:a16="http://schemas.microsoft.com/office/drawing/2014/main" id="{DB08083B-11BD-4D76-B63F-DE83A351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Las funciones avanzadas se integran al flujo del inventario; no son demostraciones aisladas.</a:t>
            </a:r>
          </a:p>
        </p:txBody>
      </p:sp>
      <p:sp>
        <p:nvSpPr>
          <p:cNvPr id="4" name="advanced-card-0">
            <a:extLst xmlns:a="http://schemas.openxmlformats.org/drawingml/2006/main">
              <a:ext uri="{FF2B5EF4-FFF2-40B4-BE49-F238E27FC236}">
                <a16:creationId xmlns:a16="http://schemas.microsoft.com/office/drawing/2014/main" id="{61782A71-8AD6-4EC9-8641-0F64E313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3562350" cy="28956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E4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ccent-72-274">
            <a:extLst xmlns:a="http://schemas.openxmlformats.org/drawingml/2006/main">
              <a:ext uri="{FF2B5EF4-FFF2-40B4-BE49-F238E27FC236}">
                <a16:creationId xmlns:a16="http://schemas.microsoft.com/office/drawing/2014/main" id="{8ACA10F7-79D7-4F0A-BAF8-527A051A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647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dvanced-heading-0">
            <a:extLst xmlns:a="http://schemas.openxmlformats.org/drawingml/2006/main">
              <a:ext uri="{FF2B5EF4-FFF2-40B4-BE49-F238E27FC236}">
                <a16:creationId xmlns:a16="http://schemas.microsoft.com/office/drawing/2014/main" id="{D9371EAD-BB3C-4520-A91C-76F2FCBA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Tiempo real</a:t>
            </a:r>
          </a:p>
        </p:txBody>
      </p:sp>
      <p:sp>
        <p:nvSpPr>
          <p:cNvPr id="7" name="advanced-body-0">
            <a:extLst xmlns:a="http://schemas.openxmlformats.org/drawingml/2006/main">
              <a:ext uri="{FF2B5EF4-FFF2-40B4-BE49-F238E27FC236}">
                <a16:creationId xmlns:a16="http://schemas.microsoft.com/office/drawing/2014/main" id="{583C4A1F-450F-4D7D-B13B-ED067072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990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Socket.IO notifica productos, inventario, ventas y stock bajo a las sesiones autenticadas.</a:t>
            </a:r>
          </a:p>
        </p:txBody>
      </p:sp>
      <p:sp>
        <p:nvSpPr>
          <p:cNvPr id="8" name="advanced-card-1">
            <a:extLst xmlns:a="http://schemas.openxmlformats.org/drawingml/2006/main">
              <a:ext uri="{FF2B5EF4-FFF2-40B4-BE49-F238E27FC236}">
                <a16:creationId xmlns:a16="http://schemas.microsoft.com/office/drawing/2014/main" id="{7DE5DDD6-D599-401C-AFE1-09247A70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24100"/>
            <a:ext cx="3562350" cy="28956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ccent-483-274">
            <a:extLst xmlns:a="http://schemas.openxmlformats.org/drawingml/2006/main">
              <a:ext uri="{FF2B5EF4-FFF2-40B4-BE49-F238E27FC236}">
                <a16:creationId xmlns:a16="http://schemas.microsoft.com/office/drawing/2014/main" id="{0D6A1A69-5EF6-4CE9-8115-7CDC5FEE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09850"/>
            <a:ext cx="647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dvanced-heading-1">
            <a:extLst xmlns:a="http://schemas.openxmlformats.org/drawingml/2006/main">
              <a:ext uri="{FF2B5EF4-FFF2-40B4-BE49-F238E27FC236}">
                <a16:creationId xmlns:a16="http://schemas.microsoft.com/office/drawing/2014/main" id="{8284F322-F477-4489-9BC2-FA27B35C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5275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Correo</a:t>
            </a:r>
          </a:p>
        </p:txBody>
      </p:sp>
      <p:sp>
        <p:nvSpPr>
          <p:cNvPr id="11" name="advanced-body-1">
            <a:extLst xmlns:a="http://schemas.openxmlformats.org/drawingml/2006/main">
              <a:ext uri="{FF2B5EF4-FFF2-40B4-BE49-F238E27FC236}">
                <a16:creationId xmlns:a16="http://schemas.microsoft.com/office/drawing/2014/main" id="{CDAB1F84-1085-4B16-AC71-3A5838CB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38550"/>
            <a:ext cx="2990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Nodemailer envía bienvenida, recuperación, alertas y resúmenes cuando SMTP está configurado.</a:t>
            </a:r>
          </a:p>
        </p:txBody>
      </p:sp>
      <p:sp>
        <p:nvSpPr>
          <p:cNvPr id="12" name="advanced-card-2">
            <a:extLst xmlns:a="http://schemas.openxmlformats.org/drawingml/2006/main">
              <a:ext uri="{FF2B5EF4-FFF2-40B4-BE49-F238E27FC236}">
                <a16:creationId xmlns:a16="http://schemas.microsoft.com/office/drawing/2014/main" id="{B85D38A6-6CB9-43A6-876B-895D5F83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562350" cy="28956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ccent-894-274">
            <a:extLst xmlns:a="http://schemas.openxmlformats.org/drawingml/2006/main">
              <a:ext uri="{FF2B5EF4-FFF2-40B4-BE49-F238E27FC236}">
                <a16:creationId xmlns:a16="http://schemas.microsoft.com/office/drawing/2014/main" id="{3CD3978F-87FE-40A3-AFE9-BF462328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09850"/>
            <a:ext cx="647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dvanced-heading-2">
            <a:extLst xmlns:a="http://schemas.openxmlformats.org/drawingml/2006/main">
              <a:ext uri="{FF2B5EF4-FFF2-40B4-BE49-F238E27FC236}">
                <a16:creationId xmlns:a16="http://schemas.microsoft.com/office/drawing/2014/main" id="{DBB88EB4-1517-4B2E-BF0A-1E189CE6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5275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Reportes</a:t>
            </a:r>
          </a:p>
        </p:txBody>
      </p:sp>
      <p:sp>
        <p:nvSpPr>
          <p:cNvPr id="15" name="advanced-body-2">
            <a:extLst xmlns:a="http://schemas.openxmlformats.org/drawingml/2006/main">
              <a:ext uri="{FF2B5EF4-FFF2-40B4-BE49-F238E27FC236}">
                <a16:creationId xmlns:a16="http://schemas.microsoft.com/office/drawing/2014/main" id="{AA532CD7-CD20-4525-AB38-5FDAA76E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38550"/>
            <a:ext cx="2990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Ventas, valor de inventario, movimientos y existencias críticas se calculan desde MongoDB.</a:t>
            </a:r>
          </a:p>
        </p:txBody>
      </p:sp>
    </p:spTree>
    <p:extLst>
      <p:ext uri="{BB962C8B-B14F-4D97-AF65-F5344CB8AC3E}">
        <p14:creationId xmlns:p14="http://schemas.microsoft.com/office/powerpoint/2010/main" val="10095564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4B7CAD0-C321-4621-ABCB-045E55B5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Las pruebas confirman calidad técnica y funcional</a:t>
            </a:r>
          </a:p>
        </p:txBody>
      </p:sp>
      <p:sp>
        <p:nvSpPr>
          <p:cNvPr id="2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4EA2A536-8FDD-45C4-ABC0-4BD61466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quality-context">
            <a:extLst xmlns:a="http://schemas.openxmlformats.org/drawingml/2006/main">
              <a:ext uri="{FF2B5EF4-FFF2-40B4-BE49-F238E27FC236}">
                <a16:creationId xmlns:a16="http://schemas.microsoft.com/office/drawing/2014/main" id="{E5DFE4DD-F37D-4581-ADBA-82917784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La validación final se ejecutó en Node 20 con compilación, lint, formato y pruebas completas.</a:t>
            </a:r>
          </a:p>
        </p:txBody>
      </p:sp>
      <p:sp>
        <p:nvSpPr>
          <p:cNvPr id="4" name="metric-card-0">
            <a:extLst xmlns:a="http://schemas.openxmlformats.org/drawingml/2006/main">
              <a:ext uri="{FF2B5EF4-FFF2-40B4-BE49-F238E27FC236}">
                <a16:creationId xmlns:a16="http://schemas.microsoft.com/office/drawing/2014/main" id="{2342F740-F5C9-401F-A2AB-3E6C89FB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56235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4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stat-0">
            <a:extLst xmlns:a="http://schemas.openxmlformats.org/drawingml/2006/main">
              <a:ext uri="{FF2B5EF4-FFF2-40B4-BE49-F238E27FC236}">
                <a16:creationId xmlns:a16="http://schemas.microsoft.com/office/drawing/2014/main" id="{2A8930DB-F210-4861-9EF8-1F080158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BE47B2EE-7D61-4C4F-9675-232CDEE4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pruebas aprobadas</a:t>
            </a:r>
          </a:p>
        </p:txBody>
      </p:sp>
      <p:sp>
        <p:nvSpPr>
          <p:cNvPr id="7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0E7ECBBF-12F0-4216-8F73-88A48390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81300"/>
            <a:ext cx="356235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61F94211-2593-43DC-89E3-426D779F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8135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9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DE5E0944-5042-47EE-9036-B30CC11C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5339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suites independientes</a:t>
            </a:r>
          </a:p>
        </p:txBody>
      </p:sp>
      <p:sp>
        <p:nvSpPr>
          <p:cNvPr id="10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8043E17C-C005-49C6-BF76-E17042AB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56235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6842A583-E6D1-4AF4-82E6-26052132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8135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5B73DAFF-E541-46BC-9821-E5EB4C02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339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vulnerabilidades npm</a:t>
            </a:r>
          </a:p>
        </p:txBody>
      </p:sp>
    </p:spTree>
    <p:extLst>
      <p:ext uri="{BB962C8B-B14F-4D97-AF65-F5344CB8AC3E}">
        <p14:creationId xmlns:p14="http://schemas.microsoft.com/office/powerpoint/2010/main" val="1600203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ED0CCCA0-DFDC-484E-A8A2-D205A5B5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 despliegue queda reproducible y verificable</a:t>
            </a:r>
          </a:p>
        </p:txBody>
      </p:sp>
      <p:sp>
        <p:nvSpPr>
          <p:cNvPr id="2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EAFE9367-BE16-4E8D-8BC7-86942D0B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deploy-card-0">
            <a:extLst xmlns:a="http://schemas.openxmlformats.org/drawingml/2006/main">
              <a:ext uri="{FF2B5EF4-FFF2-40B4-BE49-F238E27FC236}">
                <a16:creationId xmlns:a16="http://schemas.microsoft.com/office/drawing/2014/main" id="{41CF8EB6-1F24-4276-AB6A-83F1F5C7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35623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ploy-number-0">
            <a:extLst xmlns:a="http://schemas.openxmlformats.org/drawingml/2006/main">
              <a:ext uri="{FF2B5EF4-FFF2-40B4-BE49-F238E27FC236}">
                <a16:creationId xmlns:a16="http://schemas.microsoft.com/office/drawing/2014/main" id="{2FDA0D25-7B0C-4A87-8BA6-32034031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deploy-heading-0">
            <a:extLst xmlns:a="http://schemas.openxmlformats.org/drawingml/2006/main">
              <a:ext uri="{FF2B5EF4-FFF2-40B4-BE49-F238E27FC236}">
                <a16:creationId xmlns:a16="http://schemas.microsoft.com/office/drawing/2014/main" id="{4626DBFE-A8E9-4411-B919-D24B4918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990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MongoDB Atlas</a:t>
            </a:r>
          </a:p>
        </p:txBody>
      </p:sp>
      <p:sp>
        <p:nvSpPr>
          <p:cNvPr id="6" name="deploy-body-0">
            <a:extLst xmlns:a="http://schemas.openxmlformats.org/drawingml/2006/main">
              <a:ext uri="{FF2B5EF4-FFF2-40B4-BE49-F238E27FC236}">
                <a16:creationId xmlns:a16="http://schemas.microsoft.com/office/drawing/2014/main" id="{E01B8C41-589C-41A1-BAE3-0E0E73BC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990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Replica set y cadena de conexión protegida.</a:t>
            </a:r>
          </a:p>
        </p:txBody>
      </p:sp>
      <p:sp>
        <p:nvSpPr>
          <p:cNvPr id="7" name="deploy-card-1">
            <a:extLst xmlns:a="http://schemas.openxmlformats.org/drawingml/2006/main">
              <a:ext uri="{FF2B5EF4-FFF2-40B4-BE49-F238E27FC236}">
                <a16:creationId xmlns:a16="http://schemas.microsoft.com/office/drawing/2014/main" id="{CE35B100-F41F-48CE-9101-A9F22606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66850"/>
            <a:ext cx="35623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4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ploy-number-1">
            <a:extLst xmlns:a="http://schemas.openxmlformats.org/drawingml/2006/main">
              <a:ext uri="{FF2B5EF4-FFF2-40B4-BE49-F238E27FC236}">
                <a16:creationId xmlns:a16="http://schemas.microsoft.com/office/drawing/2014/main" id="{3D95879F-2752-4281-8D4A-D83EA85C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716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deploy-heading-1">
            <a:extLst xmlns:a="http://schemas.openxmlformats.org/drawingml/2006/main">
              <a:ext uri="{FF2B5EF4-FFF2-40B4-BE49-F238E27FC236}">
                <a16:creationId xmlns:a16="http://schemas.microsoft.com/office/drawing/2014/main" id="{54D08888-667B-4FAD-96D2-45249A71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47950"/>
            <a:ext cx="2990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Render Blueprint</a:t>
            </a:r>
          </a:p>
        </p:txBody>
      </p:sp>
      <p:sp>
        <p:nvSpPr>
          <p:cNvPr id="10" name="deploy-body-1">
            <a:extLst xmlns:a="http://schemas.openxmlformats.org/drawingml/2006/main">
              <a:ext uri="{FF2B5EF4-FFF2-40B4-BE49-F238E27FC236}">
                <a16:creationId xmlns:a16="http://schemas.microsoft.com/office/drawing/2014/main" id="{77A42E9A-57A4-442C-A266-61E0CB56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71850"/>
            <a:ext cx="2990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Build, start, Node 20 y secretos desde render.yaml.</a:t>
            </a:r>
          </a:p>
        </p:txBody>
      </p:sp>
      <p:sp>
        <p:nvSpPr>
          <p:cNvPr id="11" name="deploy-card-2">
            <a:extLst xmlns:a="http://schemas.openxmlformats.org/drawingml/2006/main">
              <a:ext uri="{FF2B5EF4-FFF2-40B4-BE49-F238E27FC236}">
                <a16:creationId xmlns:a16="http://schemas.microsoft.com/office/drawing/2014/main" id="{B538B438-F0BD-4C49-A28A-34A2FDFC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66850"/>
            <a:ext cx="35623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ploy-number-2">
            <a:extLst xmlns:a="http://schemas.openxmlformats.org/drawingml/2006/main">
              <a:ext uri="{FF2B5EF4-FFF2-40B4-BE49-F238E27FC236}">
                <a16:creationId xmlns:a16="http://schemas.microsoft.com/office/drawing/2014/main" id="{BA811EE9-7EA0-4E19-AA0B-F25149A5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716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deploy-heading-2">
            <a:extLst xmlns:a="http://schemas.openxmlformats.org/drawingml/2006/main">
              <a:ext uri="{FF2B5EF4-FFF2-40B4-BE49-F238E27FC236}">
                <a16:creationId xmlns:a16="http://schemas.microsoft.com/office/drawing/2014/main" id="{255F03AC-862D-496A-930F-E31F4325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47950"/>
            <a:ext cx="2990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Health check</a:t>
            </a:r>
          </a:p>
        </p:txBody>
      </p:sp>
      <p:sp>
        <p:nvSpPr>
          <p:cNvPr id="14" name="deploy-body-2">
            <a:extLst xmlns:a="http://schemas.openxmlformats.org/drawingml/2006/main">
              <a:ext uri="{FF2B5EF4-FFF2-40B4-BE49-F238E27FC236}">
                <a16:creationId xmlns:a16="http://schemas.microsoft.com/office/drawing/2014/main" id="{6199B507-81BF-4BA7-89CE-D5898214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990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GET /health confirma proceso y base conectada.</a:t>
            </a:r>
          </a:p>
        </p:txBody>
      </p:sp>
      <p:sp>
        <p:nvSpPr>
          <p:cNvPr id="15" name="deploy-note">
            <a:extLst xmlns:a="http://schemas.openxmlformats.org/drawingml/2006/main">
              <a:ext uri="{FF2B5EF4-FFF2-40B4-BE49-F238E27FC236}">
                <a16:creationId xmlns:a16="http://schemas.microsoft.com/office/drawing/2014/main" id="{F0D14299-1CCB-4CD1-964D-8232F0DD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Los secretos permanecen fuera de Git y APP_URL se ajusta a la dirección HTTPS final.</a:t>
            </a:r>
          </a:p>
        </p:txBody>
      </p:sp>
    </p:spTree>
    <p:extLst>
      <p:ext uri="{BB962C8B-B14F-4D97-AF65-F5344CB8AC3E}">
        <p14:creationId xmlns:p14="http://schemas.microsoft.com/office/powerpoint/2010/main" val="19739016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1D04EEE9-FFF7-4552-B985-C199B256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Git y Jira dejan evidencia verificable</a:t>
            </a:r>
          </a:p>
        </p:txBody>
      </p:sp>
      <p:sp>
        <p:nvSpPr>
          <p:cNvPr id="2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E25429FF-F3CB-4B80-A930-B9ACD702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team-heading">
            <a:extLst xmlns:a="http://schemas.openxmlformats.org/drawingml/2006/main">
              <a:ext uri="{FF2B5EF4-FFF2-40B4-BE49-F238E27FC236}">
                <a16:creationId xmlns:a16="http://schemas.microsoft.com/office/drawing/2014/main" id="{698FE7CB-481F-42B7-B028-9A991C35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Trazabilidad en dos niveles</a:t>
            </a:r>
          </a:p>
        </p:txBody>
      </p:sp>
      <p:sp>
        <p:nvSpPr>
          <p:cNvPr id="4" name="team-list-0">
            <a:extLst xmlns:a="http://schemas.openxmlformats.org/drawingml/2006/main">
              <a:ext uri="{FF2B5EF4-FFF2-40B4-BE49-F238E27FC236}">
                <a16:creationId xmlns:a16="http://schemas.microsoft.com/office/drawing/2014/main" id="{A4D650D0-B4FC-44ED-B38A-D0637321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 Historial de Git por autor y fecha</a:t>
            </a:r>
          </a:p>
        </p:txBody>
      </p:sp>
      <p:sp>
        <p:nvSpPr>
          <p:cNvPr id="5" name="team-list-1">
            <a:extLst xmlns:a="http://schemas.openxmlformats.org/drawingml/2006/main">
              <a:ext uri="{FF2B5EF4-FFF2-40B4-BE49-F238E27FC236}">
                <a16:creationId xmlns:a16="http://schemas.microsoft.com/office/drawing/2014/main" id="{0D1970BC-516F-47C1-A946-E2F7A746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 Tablero Jira conservado en Docs</a:t>
            </a:r>
          </a:p>
        </p:txBody>
      </p:sp>
      <p:sp>
        <p:nvSpPr>
          <p:cNvPr id="6" name="team-list-2">
            <a:extLst xmlns:a="http://schemas.openxmlformats.org/drawingml/2006/main">
              <a:ext uri="{FF2B5EF4-FFF2-40B4-BE49-F238E27FC236}">
                <a16:creationId xmlns:a16="http://schemas.microsoft.com/office/drawing/2014/main" id="{438B7924-EA87-4A95-A7DF-245B485A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 Pruebas como evidencia ejecutable</a:t>
            </a:r>
          </a:p>
        </p:txBody>
      </p:sp>
      <p:sp>
        <p:nvSpPr>
          <p:cNvPr id="7" name="team-list-3">
            <a:extLst xmlns:a="http://schemas.openxmlformats.org/drawingml/2006/main">
              <a:ext uri="{FF2B5EF4-FFF2-40B4-BE49-F238E27FC236}">
                <a16:creationId xmlns:a16="http://schemas.microsoft.com/office/drawing/2014/main" id="{E47537DC-4BB9-4551-82AF-99B18B0A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 Documentación alineada al código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5800fc42e401c"/>
          <a:stretch xmlns:a="http://schemas.openxmlformats.org/drawingml/2006/main"/>
        </p:blipFill>
        <p:spPr>
          <a:xfrm xmlns:a="http://schemas.openxmlformats.org/drawingml/2006/main">
            <a:off x="5638800" y="2162416"/>
            <a:ext cx="6153150" cy="2666518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9" name="team-caption">
            <a:extLst xmlns:a="http://schemas.openxmlformats.org/drawingml/2006/main">
              <a:ext uri="{FF2B5EF4-FFF2-40B4-BE49-F238E27FC236}">
                <a16:creationId xmlns:a16="http://schemas.microsoft.com/office/drawing/2014/main" id="{651D7790-5A3F-4437-BF3C-5206C567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695950"/>
            <a:ext cx="615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26A"/>
                </a:solidFill>
                <a:latin typeface="Helvetica Neue"/>
                <a:ea typeface="Helvetica Neue"/>
                <a:cs typeface="Helvetica Neue"/>
              </a:rPr>
              <a:t>Evidencia original incluida en Docs/TableroJira.png</a:t>
            </a:r>
          </a:p>
        </p:txBody>
      </p:sp>
    </p:spTree>
    <p:extLst>
      <p:ext uri="{BB962C8B-B14F-4D97-AF65-F5344CB8AC3E}">
        <p14:creationId xmlns:p14="http://schemas.microsoft.com/office/powerpoint/2010/main" val="3595284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274DC256-A5D1-4B6B-B015-23C762FB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6B4A"/>
                </a:solidFill>
                <a:latin typeface="Helvetica Neue"/>
                <a:ea typeface="Helvetica Neue"/>
                <a:cs typeface="Helvetica Neue"/>
              </a:rPr>
              <a:t>STOCKFÁCIL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BBC55D9A-FED6-4C6E-9D2A-50021894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Controlar hoy.</a:t>
            </a:r>
          </a:p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Decidir mejor mañana.</a:t>
            </a:r>
          </a:p>
        </p:txBody>
      </p:sp>
      <p:sp>
        <p:nvSpPr>
          <p:cNvPr id="3" name="accent-42-486">
            <a:extLst xmlns:a="http://schemas.openxmlformats.org/drawingml/2006/main">
              <a:ext uri="{FF2B5EF4-FFF2-40B4-BE49-F238E27FC236}">
                <a16:creationId xmlns:a16="http://schemas.microsoft.com/office/drawing/2014/main" id="{2DAD8973-119F-4584-8212-25E386E3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lines">
            <a:extLst xmlns:a="http://schemas.openxmlformats.org/drawingml/2006/main">
              <a:ext uri="{FF2B5EF4-FFF2-40B4-BE49-F238E27FC236}">
                <a16:creationId xmlns:a16="http://schemas.microsoft.com/office/drawing/2014/main" id="{3CDEB52C-A1F1-47C8-8BFD-B9D6BE5F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Inventario confiable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Ventas con trazabilidad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Alertas que llegan a tiempo</a:t>
            </a:r>
          </a:p>
        </p:txBody>
      </p:sp>
    </p:spTree>
    <p:extLst>
      <p:ext uri="{BB962C8B-B14F-4D97-AF65-F5344CB8AC3E}">
        <p14:creationId xmlns:p14="http://schemas.microsoft.com/office/powerpoint/2010/main" val="1431217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2026-07-20T17:43:31.0480000Z</dcterms:created>
  <dcterms:modified xsi:type="dcterms:W3CDTF">2026-07-20T17:43:31.0480000Z</dcterms:modified>
</coreProperties>
</file>